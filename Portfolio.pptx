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82ef2a01b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82ef2a01b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82a6e90c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82a6e90c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82a6e90c2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82a6e90c2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82a6e90c2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82a6e90c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82a6e90c2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82a6e90c2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82a6e90c2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82a6e90c2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2e76756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82e76756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2e76756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82e76756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82e76756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82e76756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82ef2a01b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82ef2a01b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jpg"/><Relationship Id="rId4" Type="http://schemas.openxmlformats.org/officeDocument/2006/relationships/hyperlink" Target="mailto:Alexlaza1@gmail.com" TargetMode="External"/><Relationship Id="rId5" Type="http://schemas.openxmlformats.org/officeDocument/2006/relationships/hyperlink" Target="https://clck.ru/34pxFT" TargetMode="External"/><Relationship Id="rId6" Type="http://schemas.openxmlformats.org/officeDocument/2006/relationships/hyperlink" Target="https://clck.ru/34pxH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20.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2.jpg"/><Relationship Id="rId5"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31.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28.jpg"/><Relationship Id="rId5" Type="http://schemas.openxmlformats.org/officeDocument/2006/relationships/image" Target="../media/image17.png"/><Relationship Id="rId6" Type="http://schemas.openxmlformats.org/officeDocument/2006/relationships/image" Target="../media/image6.jpg"/><Relationship Id="rId7"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4.jpg"/><Relationship Id="rId5" Type="http://schemas.openxmlformats.org/officeDocument/2006/relationships/image" Target="../media/image8.jp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jpg"/><Relationship Id="rId4" Type="http://schemas.openxmlformats.org/officeDocument/2006/relationships/image" Target="../media/image16.jpg"/><Relationship Id="rId5" Type="http://schemas.openxmlformats.org/officeDocument/2006/relationships/image" Target="../media/image14.jpg"/><Relationship Id="rId6" Type="http://schemas.openxmlformats.org/officeDocument/2006/relationships/image" Target="../media/image27.jpg"/><Relationship Id="rId7" Type="http://schemas.openxmlformats.org/officeDocument/2006/relationships/image" Target="../media/image19.jpg"/><Relationship Id="rId8"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0.jpg"/><Relationship Id="rId4"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jpg"/><Relationship Id="rId4" Type="http://schemas.openxmlformats.org/officeDocument/2006/relationships/hyperlink" Target="mailto:Alexlaza1@gmail.com" TargetMode="External"/><Relationship Id="rId5" Type="http://schemas.openxmlformats.org/officeDocument/2006/relationships/hyperlink" Target="https://clck.ru/34pxFT" TargetMode="External"/><Relationship Id="rId6" Type="http://schemas.openxmlformats.org/officeDocument/2006/relationships/hyperlink" Target="https://clck.ru/34pxH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0850"/>
            <a:ext cx="8520600" cy="1540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i="1" lang="ru" sz="7100">
                <a:solidFill>
                  <a:schemeClr val="lt1"/>
                </a:solidFill>
              </a:rPr>
              <a:t>Lazarev Aleksey</a:t>
            </a:r>
            <a:endParaRPr b="1" i="1" sz="7100">
              <a:solidFill>
                <a:schemeClr val="lt1"/>
              </a:solidFill>
            </a:endParaRPr>
          </a:p>
        </p:txBody>
      </p:sp>
      <p:sp>
        <p:nvSpPr>
          <p:cNvPr id="55" name="Google Shape;55;p13"/>
          <p:cNvSpPr txBox="1"/>
          <p:nvPr>
            <p:ph idx="1" type="subTitle"/>
          </p:nvPr>
        </p:nvSpPr>
        <p:spPr>
          <a:xfrm>
            <a:off x="1473600" y="4105475"/>
            <a:ext cx="6196800" cy="646500"/>
          </a:xfrm>
          <a:prstGeom prst="rect">
            <a:avLst/>
          </a:prstGeom>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ru" sz="3000">
                <a:solidFill>
                  <a:schemeClr val="lt1"/>
                </a:solidFill>
              </a:rPr>
              <a:t>Professional Portfolio</a:t>
            </a:r>
            <a:endParaRPr sz="4700">
              <a:solidFill>
                <a:schemeClr val="lt1"/>
              </a:solidFill>
            </a:endParaRPr>
          </a:p>
        </p:txBody>
      </p:sp>
      <p:sp>
        <p:nvSpPr>
          <p:cNvPr id="56" name="Google Shape;56;p13"/>
          <p:cNvSpPr txBox="1"/>
          <p:nvPr/>
        </p:nvSpPr>
        <p:spPr>
          <a:xfrm>
            <a:off x="2722950" y="1866700"/>
            <a:ext cx="3698100" cy="240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ru" sz="2900">
                <a:solidFill>
                  <a:schemeClr val="lt1"/>
                </a:solidFill>
              </a:rPr>
              <a:t>Technical manager</a:t>
            </a:r>
            <a:endParaRPr sz="2900">
              <a:solidFill>
                <a:schemeClr val="lt1"/>
              </a:solidFill>
            </a:endParaRPr>
          </a:p>
          <a:p>
            <a:pPr indent="0" lvl="0" marL="0" rtl="0" algn="ctr">
              <a:spcBef>
                <a:spcPts val="0"/>
              </a:spcBef>
              <a:spcAft>
                <a:spcPts val="0"/>
              </a:spcAft>
              <a:buClr>
                <a:schemeClr val="dk1"/>
              </a:buClr>
              <a:buSzPts val="1100"/>
              <a:buFont typeface="Arial"/>
              <a:buNone/>
            </a:pPr>
            <a:r>
              <a:rPr lang="ru" sz="2900">
                <a:solidFill>
                  <a:schemeClr val="lt1"/>
                </a:solidFill>
              </a:rPr>
              <a:t>Overlay Manager</a:t>
            </a:r>
            <a:endParaRPr sz="2900">
              <a:solidFill>
                <a:schemeClr val="lt1"/>
              </a:solidFill>
            </a:endParaRPr>
          </a:p>
          <a:p>
            <a:pPr indent="0" lvl="0" marL="0" rtl="0" algn="ctr">
              <a:spcBef>
                <a:spcPts val="0"/>
              </a:spcBef>
              <a:spcAft>
                <a:spcPts val="0"/>
              </a:spcAft>
              <a:buClr>
                <a:schemeClr val="dk1"/>
              </a:buClr>
              <a:buSzPts val="1100"/>
              <a:buFont typeface="Arial"/>
              <a:buNone/>
            </a:pPr>
            <a:r>
              <a:rPr lang="ru" sz="2900">
                <a:solidFill>
                  <a:schemeClr val="lt1"/>
                </a:solidFill>
              </a:rPr>
              <a:t>Site manager</a:t>
            </a:r>
            <a:endParaRPr sz="2900">
              <a:solidFill>
                <a:schemeClr val="lt1"/>
              </a:solidFill>
            </a:endParaRPr>
          </a:p>
          <a:p>
            <a:pPr indent="0" lvl="0" marL="0" rtl="0" algn="ctr">
              <a:spcBef>
                <a:spcPts val="0"/>
              </a:spcBef>
              <a:spcAft>
                <a:spcPts val="0"/>
              </a:spcAft>
              <a:buClr>
                <a:schemeClr val="dk1"/>
              </a:buClr>
              <a:buSzPts val="1100"/>
              <a:buFont typeface="Arial"/>
              <a:buNone/>
            </a:pPr>
            <a:r>
              <a:rPr lang="ru" sz="2900">
                <a:solidFill>
                  <a:schemeClr val="lt1"/>
                </a:solidFill>
              </a:rPr>
              <a:t>Team leader</a:t>
            </a:r>
            <a:endParaRPr sz="29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633001" y="453400"/>
            <a:ext cx="4061700" cy="1100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i="1" lang="ru" sz="3600">
                <a:solidFill>
                  <a:schemeClr val="lt1"/>
                </a:solidFill>
              </a:rPr>
              <a:t>Contacts</a:t>
            </a:r>
            <a:endParaRPr b="1" i="1" sz="3600">
              <a:solidFill>
                <a:schemeClr val="lt1"/>
              </a:solidFill>
            </a:endParaRPr>
          </a:p>
        </p:txBody>
      </p:sp>
      <p:sp>
        <p:nvSpPr>
          <p:cNvPr id="62" name="Google Shape;62;p14"/>
          <p:cNvSpPr txBox="1"/>
          <p:nvPr>
            <p:ph idx="1" type="subTitle"/>
          </p:nvPr>
        </p:nvSpPr>
        <p:spPr>
          <a:xfrm>
            <a:off x="633000" y="1964700"/>
            <a:ext cx="4288500" cy="3178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lt1"/>
                </a:solidFill>
              </a:rPr>
              <a:t>Lazarev Alexey</a:t>
            </a:r>
            <a:endParaRPr sz="16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ru" sz="1600">
                <a:solidFill>
                  <a:schemeClr val="lt1"/>
                </a:solidFill>
              </a:rPr>
              <a:t>September 30, 1987</a:t>
            </a:r>
            <a:endParaRPr sz="16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ru" sz="1600">
                <a:solidFill>
                  <a:schemeClr val="lt1"/>
                </a:solidFill>
              </a:rPr>
              <a:t>Moscow, Russia</a:t>
            </a:r>
            <a:endParaRPr sz="1600">
              <a:solidFill>
                <a:schemeClr val="lt1"/>
              </a:solidFill>
            </a:endParaRPr>
          </a:p>
          <a:p>
            <a:pPr indent="0" lvl="0" marL="0" rtl="0" algn="l">
              <a:lnSpc>
                <a:spcPct val="115000"/>
              </a:lnSpc>
              <a:spcBef>
                <a:spcPts val="0"/>
              </a:spcBef>
              <a:spcAft>
                <a:spcPts val="0"/>
              </a:spcAft>
              <a:buNone/>
            </a:pPr>
            <a:r>
              <a:rPr lang="ru" sz="1600">
                <a:solidFill>
                  <a:schemeClr val="lt1"/>
                </a:solidFill>
              </a:rPr>
              <a:t>+79035560626</a:t>
            </a:r>
            <a:endParaRPr sz="1600">
              <a:solidFill>
                <a:schemeClr val="lt1"/>
              </a:solidFill>
            </a:endParaRPr>
          </a:p>
          <a:p>
            <a:pPr indent="0" lvl="0" marL="0" rtl="0" algn="l">
              <a:lnSpc>
                <a:spcPct val="115000"/>
              </a:lnSpc>
              <a:spcBef>
                <a:spcPts val="0"/>
              </a:spcBef>
              <a:spcAft>
                <a:spcPts val="0"/>
              </a:spcAft>
              <a:buNone/>
            </a:pPr>
            <a:r>
              <a:rPr lang="ru" sz="1600">
                <a:solidFill>
                  <a:schemeClr val="lt1"/>
                </a:solidFill>
              </a:rPr>
              <a:t>Email </a:t>
            </a:r>
            <a:r>
              <a:rPr lang="ru" sz="1600" u="sng">
                <a:solidFill>
                  <a:schemeClr val="lt1"/>
                </a:solidFill>
                <a:hlinkClick r:id="rId4">
                  <a:extLst>
                    <a:ext uri="{A12FA001-AC4F-418D-AE19-62706E023703}">
                      <ahyp:hlinkClr val="tx"/>
                    </a:ext>
                  </a:extLst>
                </a:hlinkClick>
              </a:rPr>
              <a:t>Alexlaza1@gmail.com</a:t>
            </a:r>
            <a:endParaRPr sz="1600">
              <a:solidFill>
                <a:schemeClr val="lt1"/>
              </a:solidFill>
            </a:endParaRPr>
          </a:p>
          <a:p>
            <a:pPr indent="0" lvl="0" marL="0" rtl="0" algn="l">
              <a:lnSpc>
                <a:spcPct val="115000"/>
              </a:lnSpc>
              <a:spcBef>
                <a:spcPts val="0"/>
              </a:spcBef>
              <a:spcAft>
                <a:spcPts val="0"/>
              </a:spcAft>
              <a:buNone/>
            </a:pPr>
            <a:r>
              <a:rPr lang="ru" sz="1600">
                <a:solidFill>
                  <a:schemeClr val="lt1"/>
                </a:solidFill>
              </a:rPr>
              <a:t>Facebook </a:t>
            </a:r>
            <a:r>
              <a:rPr lang="ru" sz="1600" u="sng">
                <a:solidFill>
                  <a:schemeClr val="lt1"/>
                </a:solidFill>
                <a:hlinkClick r:id="rId5">
                  <a:extLst>
                    <a:ext uri="{A12FA001-AC4F-418D-AE19-62706E023703}">
                      <ahyp:hlinkClr val="tx"/>
                    </a:ext>
                  </a:extLst>
                </a:hlinkClick>
              </a:rPr>
              <a:t>https://clck.ru/34pxFT</a:t>
            </a:r>
            <a:endParaRPr sz="1600">
              <a:solidFill>
                <a:schemeClr val="lt1"/>
              </a:solidFill>
            </a:endParaRPr>
          </a:p>
          <a:p>
            <a:pPr indent="0" lvl="0" marL="0" rtl="0" algn="l">
              <a:lnSpc>
                <a:spcPct val="115000"/>
              </a:lnSpc>
              <a:spcBef>
                <a:spcPts val="0"/>
              </a:spcBef>
              <a:spcAft>
                <a:spcPts val="0"/>
              </a:spcAft>
              <a:buNone/>
            </a:pPr>
            <a:r>
              <a:rPr lang="ru" sz="1600">
                <a:solidFill>
                  <a:schemeClr val="lt1"/>
                </a:solidFill>
              </a:rPr>
              <a:t>LinkedI</a:t>
            </a:r>
            <a:r>
              <a:rPr lang="ru" sz="1600">
                <a:solidFill>
                  <a:schemeClr val="lt1"/>
                </a:solidFill>
              </a:rPr>
              <a:t>n</a:t>
            </a:r>
            <a:r>
              <a:rPr lang="ru" sz="1600">
                <a:solidFill>
                  <a:schemeClr val="lt1"/>
                </a:solidFill>
              </a:rPr>
              <a:t> </a:t>
            </a:r>
            <a:r>
              <a:rPr lang="ru" sz="1600" u="sng">
                <a:solidFill>
                  <a:schemeClr val="lt1"/>
                </a:solidFill>
                <a:hlinkClick r:id="rId6">
                  <a:extLst>
                    <a:ext uri="{A12FA001-AC4F-418D-AE19-62706E023703}">
                      <ahyp:hlinkClr val="tx"/>
                    </a:ext>
                  </a:extLst>
                </a:hlinkClick>
              </a:rPr>
              <a:t>https://clck.ru/34pxH2</a:t>
            </a:r>
            <a:endParaRPr sz="16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ru" sz="1600">
                <a:solidFill>
                  <a:schemeClr val="lt1"/>
                </a:solidFill>
              </a:rPr>
              <a:t>Driver's License Category: "B" since 2007</a:t>
            </a:r>
            <a:endParaRPr sz="16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ru" sz="1600">
                <a:solidFill>
                  <a:schemeClr val="lt1"/>
                </a:solidFill>
              </a:rPr>
              <a:t>Married, one child</a:t>
            </a:r>
            <a:endParaRPr sz="33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512450" y="442025"/>
            <a:ext cx="1958100" cy="7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ru" sz="4200">
                <a:solidFill>
                  <a:schemeClr val="lt1"/>
                </a:solidFill>
              </a:rPr>
              <a:t>Röder</a:t>
            </a:r>
            <a:endParaRPr sz="5900"/>
          </a:p>
        </p:txBody>
      </p:sp>
      <p:sp>
        <p:nvSpPr>
          <p:cNvPr id="68" name="Google Shape;68;p15"/>
          <p:cNvSpPr txBox="1"/>
          <p:nvPr>
            <p:ph idx="1" type="body"/>
          </p:nvPr>
        </p:nvSpPr>
        <p:spPr>
          <a:xfrm>
            <a:off x="512450" y="2078175"/>
            <a:ext cx="4947600" cy="332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solidFill>
                  <a:schemeClr val="lt1"/>
                </a:solidFill>
              </a:rPr>
              <a:t>Russia Moscow, Qatar Doha</a:t>
            </a:r>
            <a:endParaRPr>
              <a:solidFill>
                <a:schemeClr val="lt1"/>
              </a:solidFill>
            </a:endParaRPr>
          </a:p>
          <a:p>
            <a:pPr indent="0" lvl="0" marL="0" rtl="0" algn="l">
              <a:spcBef>
                <a:spcPts val="0"/>
              </a:spcBef>
              <a:spcAft>
                <a:spcPts val="0"/>
              </a:spcAft>
              <a:buClr>
                <a:schemeClr val="dk1"/>
              </a:buClr>
              <a:buSzPts val="1100"/>
              <a:buFont typeface="Arial"/>
              <a:buNone/>
            </a:pPr>
            <a:r>
              <a:rPr lang="ru">
                <a:solidFill>
                  <a:schemeClr val="lt1"/>
                </a:solidFill>
              </a:rPr>
              <a:t>June 2023 - Present</a:t>
            </a:r>
            <a:endParaRPr>
              <a:solidFill>
                <a:schemeClr val="lt1"/>
              </a:solidFill>
            </a:endParaRPr>
          </a:p>
          <a:p>
            <a:pPr indent="0" lvl="0" marL="0" rtl="0" algn="l">
              <a:spcBef>
                <a:spcPts val="0"/>
              </a:spcBef>
              <a:spcAft>
                <a:spcPts val="0"/>
              </a:spcAft>
              <a:buClr>
                <a:schemeClr val="dk1"/>
              </a:buClr>
              <a:buSzPts val="1100"/>
              <a:buFont typeface="Arial"/>
              <a:buNone/>
            </a:pPr>
            <a:r>
              <a:rPr lang="ru">
                <a:solidFill>
                  <a:schemeClr val="lt1"/>
                </a:solidFill>
              </a:rPr>
              <a:t>Technical Manager</a:t>
            </a:r>
            <a:endParaRPr>
              <a:solidFill>
                <a:schemeClr val="lt1"/>
              </a:solidFill>
            </a:endParaRPr>
          </a:p>
          <a:p>
            <a:pPr indent="0" lvl="0" marL="0" rtl="0" algn="l">
              <a:spcBef>
                <a:spcPts val="0"/>
              </a:spcBef>
              <a:spcAft>
                <a:spcPts val="0"/>
              </a:spcAft>
              <a:buClr>
                <a:schemeClr val="dk1"/>
              </a:buClr>
              <a:buSzPts val="1100"/>
              <a:buFont typeface="Arial"/>
              <a:buNone/>
            </a:pPr>
            <a:r>
              <a:rPr lang="ru">
                <a:solidFill>
                  <a:schemeClr val="lt1"/>
                </a:solidFill>
              </a:rPr>
              <a:t>Preparation of personnel and equipment lists, client communication on-site, supervision of construction installation and dismantling. Ensuring uninterrupted supply of materials for the "Russia 21st century" exhibition and Doha Expo 2023.</a:t>
            </a:r>
            <a:endParaRPr>
              <a:solidFill>
                <a:schemeClr val="lt1"/>
              </a:solidFill>
            </a:endParaRPr>
          </a:p>
          <a:p>
            <a:pPr indent="0" lvl="0" marL="0" rtl="0" algn="l">
              <a:spcBef>
                <a:spcPts val="0"/>
              </a:spcBef>
              <a:spcAft>
                <a:spcPts val="1200"/>
              </a:spcAft>
              <a:buNone/>
            </a:pPr>
            <a:r>
              <a:t/>
            </a:r>
            <a:endParaRPr/>
          </a:p>
        </p:txBody>
      </p:sp>
      <p:pic>
        <p:nvPicPr>
          <p:cNvPr id="69" name="Google Shape;69;p15"/>
          <p:cNvPicPr preferRelativeResize="0"/>
          <p:nvPr/>
        </p:nvPicPr>
        <p:blipFill>
          <a:blip r:embed="rId4">
            <a:alphaModFix/>
          </a:blip>
          <a:stretch>
            <a:fillRect/>
          </a:stretch>
        </p:blipFill>
        <p:spPr>
          <a:xfrm>
            <a:off x="6108725" y="442000"/>
            <a:ext cx="2666450" cy="788750"/>
          </a:xfrm>
          <a:prstGeom prst="rect">
            <a:avLst/>
          </a:prstGeom>
          <a:noFill/>
          <a:ln>
            <a:noFill/>
          </a:ln>
        </p:spPr>
      </p:pic>
      <p:pic>
        <p:nvPicPr>
          <p:cNvPr id="70" name="Google Shape;70;p15"/>
          <p:cNvPicPr preferRelativeResize="0"/>
          <p:nvPr/>
        </p:nvPicPr>
        <p:blipFill>
          <a:blip r:embed="rId5">
            <a:alphaModFix/>
          </a:blip>
          <a:stretch>
            <a:fillRect/>
          </a:stretch>
        </p:blipFill>
        <p:spPr>
          <a:xfrm>
            <a:off x="6108725" y="1721551"/>
            <a:ext cx="2666450" cy="15350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82525" y="528400"/>
            <a:ext cx="42414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ru" sz="2900">
                <a:solidFill>
                  <a:schemeClr val="lt1"/>
                </a:solidFill>
              </a:rPr>
              <a:t>United for Manpower Solutions</a:t>
            </a:r>
            <a:endParaRPr b="1" i="1" sz="4600">
              <a:solidFill>
                <a:schemeClr val="lt1"/>
              </a:solidFill>
            </a:endParaRPr>
          </a:p>
        </p:txBody>
      </p:sp>
      <p:sp>
        <p:nvSpPr>
          <p:cNvPr id="76" name="Google Shape;76;p16"/>
          <p:cNvSpPr txBox="1"/>
          <p:nvPr>
            <p:ph idx="1" type="body"/>
          </p:nvPr>
        </p:nvSpPr>
        <p:spPr>
          <a:xfrm>
            <a:off x="311700" y="1727100"/>
            <a:ext cx="4439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700">
                <a:solidFill>
                  <a:srgbClr val="FFFFFF"/>
                </a:solidFill>
              </a:rPr>
              <a:t>Octobre 2021 - January 31, 2023</a:t>
            </a:r>
            <a:endParaRPr sz="1700">
              <a:solidFill>
                <a:srgbClr val="FFFFFF"/>
              </a:solidFill>
            </a:endParaRPr>
          </a:p>
          <a:p>
            <a:pPr indent="0" lvl="0" marL="0" rtl="0" algn="l">
              <a:spcBef>
                <a:spcPts val="0"/>
              </a:spcBef>
              <a:spcAft>
                <a:spcPts val="0"/>
              </a:spcAft>
              <a:buNone/>
            </a:pPr>
            <a:r>
              <a:rPr lang="ru" sz="1700">
                <a:solidFill>
                  <a:srgbClr val="FFFFFF"/>
                </a:solidFill>
              </a:rPr>
              <a:t>Organizing and supervising the work of an international team of 27 people. Planning and preparation of accompanying documentation for the 2022 FIFA World Cup and 2021 FIFA Arab Cup. Establishing working relationships with personnel from various countries. Organizing the supply of materials and tools for uninterrupted work at Al Janoub Stadium in Qatar.</a:t>
            </a:r>
            <a:endParaRPr sz="1700">
              <a:solidFill>
                <a:srgbClr val="FFFFFF"/>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p:txBody>
      </p:sp>
      <p:pic>
        <p:nvPicPr>
          <p:cNvPr id="77" name="Google Shape;77;p16"/>
          <p:cNvPicPr preferRelativeResize="0"/>
          <p:nvPr/>
        </p:nvPicPr>
        <p:blipFill>
          <a:blip r:embed="rId4">
            <a:alphaModFix/>
          </a:blip>
          <a:stretch>
            <a:fillRect/>
          </a:stretch>
        </p:blipFill>
        <p:spPr>
          <a:xfrm>
            <a:off x="6920701" y="1850632"/>
            <a:ext cx="1982426" cy="1018917"/>
          </a:xfrm>
          <a:prstGeom prst="rect">
            <a:avLst/>
          </a:prstGeom>
          <a:noFill/>
          <a:ln>
            <a:noFill/>
          </a:ln>
        </p:spPr>
      </p:pic>
      <p:pic>
        <p:nvPicPr>
          <p:cNvPr id="78" name="Google Shape;78;p16"/>
          <p:cNvPicPr preferRelativeResize="0"/>
          <p:nvPr/>
        </p:nvPicPr>
        <p:blipFill>
          <a:blip r:embed="rId5">
            <a:alphaModFix/>
          </a:blip>
          <a:stretch>
            <a:fillRect/>
          </a:stretch>
        </p:blipFill>
        <p:spPr>
          <a:xfrm>
            <a:off x="6920700" y="528399"/>
            <a:ext cx="1982423" cy="9089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82525" y="61640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ru" sz="2600">
                <a:solidFill>
                  <a:schemeClr val="lt1"/>
                </a:solidFill>
              </a:rPr>
              <a:t>StageHand Production</a:t>
            </a:r>
            <a:endParaRPr b="1" i="1" sz="4300">
              <a:solidFill>
                <a:schemeClr val="lt1"/>
              </a:solidFill>
            </a:endParaRPr>
          </a:p>
        </p:txBody>
      </p:sp>
      <p:sp>
        <p:nvSpPr>
          <p:cNvPr id="84" name="Google Shape;84;p17"/>
          <p:cNvSpPr txBox="1"/>
          <p:nvPr>
            <p:ph idx="1" type="body"/>
          </p:nvPr>
        </p:nvSpPr>
        <p:spPr>
          <a:xfrm>
            <a:off x="382525" y="1497200"/>
            <a:ext cx="4368900" cy="29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600">
                <a:solidFill>
                  <a:schemeClr val="lt1"/>
                </a:solidFill>
              </a:rPr>
              <a:t>April 2016 - September 2019</a:t>
            </a:r>
            <a:endParaRPr sz="1600">
              <a:solidFill>
                <a:schemeClr val="lt1"/>
              </a:solidFill>
            </a:endParaRPr>
          </a:p>
          <a:p>
            <a:pPr indent="0" lvl="0" marL="0" rtl="0" algn="l">
              <a:spcBef>
                <a:spcPts val="0"/>
              </a:spcBef>
              <a:spcAft>
                <a:spcPts val="0"/>
              </a:spcAft>
              <a:buClr>
                <a:schemeClr val="dk1"/>
              </a:buClr>
              <a:buSzPts val="1100"/>
              <a:buFont typeface="Arial"/>
              <a:buNone/>
            </a:pPr>
            <a:r>
              <a:rPr lang="ru" sz="1600">
                <a:solidFill>
                  <a:schemeClr val="lt1"/>
                </a:solidFill>
              </a:rPr>
              <a:t>General Director</a:t>
            </a:r>
            <a:endParaRPr sz="1600">
              <a:solidFill>
                <a:schemeClr val="lt1"/>
              </a:solidFill>
            </a:endParaRPr>
          </a:p>
          <a:p>
            <a:pPr indent="0" lvl="0" marL="0" rtl="0" algn="l">
              <a:spcBef>
                <a:spcPts val="0"/>
              </a:spcBef>
              <a:spcAft>
                <a:spcPts val="0"/>
              </a:spcAft>
              <a:buClr>
                <a:schemeClr val="dk1"/>
              </a:buClr>
              <a:buSzPts val="1100"/>
              <a:buFont typeface="Arial"/>
              <a:buNone/>
            </a:pPr>
            <a:r>
              <a:rPr lang="ru" sz="1600">
                <a:solidFill>
                  <a:schemeClr val="lt1"/>
                </a:solidFill>
              </a:rPr>
              <a:t>Organizing and conducting shows, concerts, and events, including the 2017 FIFA Confederations Cup and the 2018 FIFA World Cup. Assisting in the preparation of opening and closing ceremonies, approving set designs, organizing installation and dismantling, and personnel selection for installation work and stage production. Company management, participation in tenders, preparation of estimates.</a:t>
            </a:r>
            <a:endParaRPr sz="1600">
              <a:solidFill>
                <a:schemeClr val="lt1"/>
              </a:solidFill>
            </a:endParaRPr>
          </a:p>
        </p:txBody>
      </p:sp>
      <p:pic>
        <p:nvPicPr>
          <p:cNvPr id="85" name="Google Shape;85;p17"/>
          <p:cNvPicPr preferRelativeResize="0"/>
          <p:nvPr/>
        </p:nvPicPr>
        <p:blipFill>
          <a:blip r:embed="rId4">
            <a:alphaModFix/>
          </a:blip>
          <a:stretch>
            <a:fillRect/>
          </a:stretch>
        </p:blipFill>
        <p:spPr>
          <a:xfrm>
            <a:off x="7520375" y="336600"/>
            <a:ext cx="1382751" cy="1500698"/>
          </a:xfrm>
          <a:prstGeom prst="rect">
            <a:avLst/>
          </a:prstGeom>
          <a:noFill/>
          <a:ln>
            <a:noFill/>
          </a:ln>
        </p:spPr>
      </p:pic>
      <p:pic>
        <p:nvPicPr>
          <p:cNvPr id="86" name="Google Shape;86;p17"/>
          <p:cNvPicPr preferRelativeResize="0"/>
          <p:nvPr/>
        </p:nvPicPr>
        <p:blipFill>
          <a:blip r:embed="rId5">
            <a:alphaModFix/>
          </a:blip>
          <a:stretch>
            <a:fillRect/>
          </a:stretch>
        </p:blipFill>
        <p:spPr>
          <a:xfrm>
            <a:off x="4751425" y="336600"/>
            <a:ext cx="2462046" cy="1500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sp>
        <p:nvSpPr>
          <p:cNvPr id="91" name="Google Shape;91;p18"/>
          <p:cNvSpPr txBox="1"/>
          <p:nvPr>
            <p:ph type="title"/>
          </p:nvPr>
        </p:nvSpPr>
        <p:spPr>
          <a:xfrm>
            <a:off x="311700" y="388350"/>
            <a:ext cx="4099800" cy="1449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ru" sz="3600">
                <a:solidFill>
                  <a:schemeClr val="lt1"/>
                </a:solidFill>
              </a:rPr>
              <a:t>Cirque Du Soleil 45 Degrees</a:t>
            </a:r>
            <a:endParaRPr b="1" i="1" sz="3600">
              <a:solidFill>
                <a:schemeClr val="lt1"/>
              </a:solidFill>
            </a:endParaRPr>
          </a:p>
        </p:txBody>
      </p:sp>
      <p:sp>
        <p:nvSpPr>
          <p:cNvPr id="92" name="Google Shape;92;p18"/>
          <p:cNvSpPr txBox="1"/>
          <p:nvPr>
            <p:ph idx="1" type="body"/>
          </p:nvPr>
        </p:nvSpPr>
        <p:spPr>
          <a:xfrm>
            <a:off x="311700" y="1993175"/>
            <a:ext cx="4321500" cy="338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sz="1700">
                <a:solidFill>
                  <a:schemeClr val="lt1"/>
                </a:solidFill>
              </a:rPr>
              <a:t>December 2010 - January 2016</a:t>
            </a:r>
            <a:endParaRPr sz="1700">
              <a:solidFill>
                <a:schemeClr val="lt1"/>
              </a:solidFill>
            </a:endParaRPr>
          </a:p>
          <a:p>
            <a:pPr indent="0" lvl="0" marL="0" rtl="0" algn="l">
              <a:spcBef>
                <a:spcPts val="0"/>
              </a:spcBef>
              <a:spcAft>
                <a:spcPts val="0"/>
              </a:spcAft>
              <a:buClr>
                <a:schemeClr val="dk1"/>
              </a:buClr>
              <a:buSzPts val="1100"/>
              <a:buFont typeface="Arial"/>
              <a:buNone/>
            </a:pPr>
            <a:r>
              <a:rPr lang="ru" sz="1700">
                <a:solidFill>
                  <a:schemeClr val="lt1"/>
                </a:solidFill>
              </a:rPr>
              <a:t>Staging Automation Technician, Freelancer, Foreman Staff selection and assistance in installation and dismantling work, handling props, servicing automated mechanisms. Crew Boos,Installation of structures, maintenance of cleanliness, correction of breakdowns, restoration of props.</a:t>
            </a:r>
            <a:endParaRPr sz="2400">
              <a:solidFill>
                <a:schemeClr val="lt1"/>
              </a:solidFill>
            </a:endParaRPr>
          </a:p>
        </p:txBody>
      </p:sp>
      <p:pic>
        <p:nvPicPr>
          <p:cNvPr id="93" name="Google Shape;93;p18"/>
          <p:cNvPicPr preferRelativeResize="0"/>
          <p:nvPr/>
        </p:nvPicPr>
        <p:blipFill>
          <a:blip r:embed="rId4">
            <a:alphaModFix/>
          </a:blip>
          <a:stretch>
            <a:fillRect/>
          </a:stretch>
        </p:blipFill>
        <p:spPr>
          <a:xfrm>
            <a:off x="5544900" y="198645"/>
            <a:ext cx="3402650" cy="952111"/>
          </a:xfrm>
          <a:prstGeom prst="rect">
            <a:avLst/>
          </a:prstGeom>
          <a:noFill/>
          <a:ln>
            <a:noFill/>
          </a:ln>
        </p:spPr>
      </p:pic>
      <p:pic>
        <p:nvPicPr>
          <p:cNvPr id="94" name="Google Shape;94;p18"/>
          <p:cNvPicPr preferRelativeResize="0"/>
          <p:nvPr/>
        </p:nvPicPr>
        <p:blipFill>
          <a:blip r:embed="rId5">
            <a:alphaModFix/>
          </a:blip>
          <a:stretch>
            <a:fillRect/>
          </a:stretch>
        </p:blipFill>
        <p:spPr>
          <a:xfrm>
            <a:off x="5828350" y="1371950"/>
            <a:ext cx="2835750" cy="1201800"/>
          </a:xfrm>
          <a:prstGeom prst="rect">
            <a:avLst/>
          </a:prstGeom>
          <a:noFill/>
          <a:ln>
            <a:noFill/>
          </a:ln>
        </p:spPr>
      </p:pic>
      <p:pic>
        <p:nvPicPr>
          <p:cNvPr id="95" name="Google Shape;95;p18"/>
          <p:cNvPicPr preferRelativeResize="0"/>
          <p:nvPr/>
        </p:nvPicPr>
        <p:blipFill>
          <a:blip r:embed="rId6">
            <a:alphaModFix/>
          </a:blip>
          <a:stretch>
            <a:fillRect/>
          </a:stretch>
        </p:blipFill>
        <p:spPr>
          <a:xfrm>
            <a:off x="6125850" y="3727732"/>
            <a:ext cx="2531700" cy="1289836"/>
          </a:xfrm>
          <a:prstGeom prst="rect">
            <a:avLst/>
          </a:prstGeom>
          <a:noFill/>
          <a:ln>
            <a:noFill/>
          </a:ln>
        </p:spPr>
      </p:pic>
      <p:pic>
        <p:nvPicPr>
          <p:cNvPr id="96" name="Google Shape;96;p18"/>
          <p:cNvPicPr preferRelativeResize="0"/>
          <p:nvPr/>
        </p:nvPicPr>
        <p:blipFill>
          <a:blip r:embed="rId7">
            <a:alphaModFix/>
          </a:blip>
          <a:stretch>
            <a:fillRect/>
          </a:stretch>
        </p:blipFill>
        <p:spPr>
          <a:xfrm>
            <a:off x="5597534" y="2605775"/>
            <a:ext cx="3167132" cy="95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508925"/>
            <a:ext cx="25695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ru" sz="3600">
                <a:solidFill>
                  <a:schemeClr val="lt1"/>
                </a:solidFill>
              </a:rPr>
              <a:t>MF Group</a:t>
            </a:r>
            <a:endParaRPr b="1" i="1" sz="3600">
              <a:solidFill>
                <a:schemeClr val="lt1"/>
              </a:solidFill>
            </a:endParaRPr>
          </a:p>
        </p:txBody>
      </p:sp>
      <p:sp>
        <p:nvSpPr>
          <p:cNvPr id="102" name="Google Shape;102;p19"/>
          <p:cNvSpPr txBox="1"/>
          <p:nvPr>
            <p:ph idx="1" type="body"/>
          </p:nvPr>
        </p:nvSpPr>
        <p:spPr>
          <a:xfrm>
            <a:off x="311700" y="1379200"/>
            <a:ext cx="4893300" cy="336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700">
                <a:solidFill>
                  <a:schemeClr val="lt1"/>
                </a:solidFill>
              </a:rPr>
              <a:t>April 2015 - December 2015</a:t>
            </a:r>
            <a:endParaRPr sz="1700">
              <a:solidFill>
                <a:schemeClr val="lt1"/>
              </a:solidFill>
            </a:endParaRPr>
          </a:p>
          <a:p>
            <a:pPr indent="0" lvl="0" marL="0" rtl="0" algn="l">
              <a:spcBef>
                <a:spcPts val="0"/>
              </a:spcBef>
              <a:spcAft>
                <a:spcPts val="0"/>
              </a:spcAft>
              <a:buClr>
                <a:schemeClr val="dk1"/>
              </a:buClr>
              <a:buSzPts val="1100"/>
              <a:buFont typeface="Arial"/>
              <a:buNone/>
            </a:pPr>
            <a:r>
              <a:rPr lang="ru" sz="1700">
                <a:solidFill>
                  <a:schemeClr val="lt1"/>
                </a:solidFill>
              </a:rPr>
              <a:t> Worked as a freelancer since 2006,Regional Supervisor 2015</a:t>
            </a:r>
            <a:endParaRPr sz="1700">
              <a:solidFill>
                <a:schemeClr val="lt1"/>
              </a:solidFill>
            </a:endParaRPr>
          </a:p>
          <a:p>
            <a:pPr indent="0" lvl="0" marL="0" rtl="0" algn="l">
              <a:spcBef>
                <a:spcPts val="0"/>
              </a:spcBef>
              <a:spcAft>
                <a:spcPts val="0"/>
              </a:spcAft>
              <a:buClr>
                <a:schemeClr val="dk1"/>
              </a:buClr>
              <a:buSzPts val="1100"/>
              <a:buFont typeface="Arial"/>
              <a:buNone/>
            </a:pPr>
            <a:r>
              <a:rPr lang="ru" sz="1700">
                <a:solidFill>
                  <a:schemeClr val="lt1"/>
                </a:solidFill>
              </a:rPr>
              <a:t>Conducting installation and dismantling work in the Krasnodar Krai region, equipment logistics, transportation of installation teams, arranging accommodation and meals, renting transportation and additional equipment from subcontractors, creating schedules and estimates.</a:t>
            </a:r>
            <a:endParaRPr sz="2400">
              <a:solidFill>
                <a:schemeClr val="lt1"/>
              </a:solidFill>
            </a:endParaRPr>
          </a:p>
        </p:txBody>
      </p:sp>
      <p:pic>
        <p:nvPicPr>
          <p:cNvPr id="103" name="Google Shape;103;p19"/>
          <p:cNvPicPr preferRelativeResize="0"/>
          <p:nvPr/>
        </p:nvPicPr>
        <p:blipFill>
          <a:blip r:embed="rId4">
            <a:alphaModFix/>
          </a:blip>
          <a:stretch>
            <a:fillRect/>
          </a:stretch>
        </p:blipFill>
        <p:spPr>
          <a:xfrm>
            <a:off x="7261425" y="3863125"/>
            <a:ext cx="1202321" cy="1062400"/>
          </a:xfrm>
          <a:prstGeom prst="rect">
            <a:avLst/>
          </a:prstGeom>
          <a:noFill/>
          <a:ln>
            <a:noFill/>
          </a:ln>
        </p:spPr>
      </p:pic>
      <p:pic>
        <p:nvPicPr>
          <p:cNvPr id="104" name="Google Shape;104;p19"/>
          <p:cNvPicPr preferRelativeResize="0"/>
          <p:nvPr/>
        </p:nvPicPr>
        <p:blipFill>
          <a:blip r:embed="rId5">
            <a:alphaModFix/>
          </a:blip>
          <a:stretch>
            <a:fillRect/>
          </a:stretch>
        </p:blipFill>
        <p:spPr>
          <a:xfrm>
            <a:off x="6575350" y="508936"/>
            <a:ext cx="1888398" cy="1062390"/>
          </a:xfrm>
          <a:prstGeom prst="rect">
            <a:avLst/>
          </a:prstGeom>
          <a:noFill/>
          <a:ln>
            <a:noFill/>
          </a:ln>
        </p:spPr>
      </p:pic>
      <p:pic>
        <p:nvPicPr>
          <p:cNvPr id="105" name="Google Shape;105;p19"/>
          <p:cNvPicPr preferRelativeResize="0"/>
          <p:nvPr/>
        </p:nvPicPr>
        <p:blipFill>
          <a:blip r:embed="rId6">
            <a:alphaModFix/>
          </a:blip>
          <a:stretch>
            <a:fillRect/>
          </a:stretch>
        </p:blipFill>
        <p:spPr>
          <a:xfrm>
            <a:off x="5728050" y="2186025"/>
            <a:ext cx="2735691" cy="106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ru" sz="3600">
                <a:solidFill>
                  <a:schemeClr val="lt1"/>
                </a:solidFill>
              </a:rPr>
              <a:t>Vivat Group</a:t>
            </a:r>
            <a:endParaRPr b="1" i="1" sz="3600">
              <a:solidFill>
                <a:schemeClr val="lt1"/>
              </a:solidFill>
            </a:endParaRPr>
          </a:p>
        </p:txBody>
      </p:sp>
      <p:sp>
        <p:nvSpPr>
          <p:cNvPr id="111" name="Google Shape;111;p20"/>
          <p:cNvSpPr txBox="1"/>
          <p:nvPr>
            <p:ph idx="1" type="body"/>
          </p:nvPr>
        </p:nvSpPr>
        <p:spPr>
          <a:xfrm>
            <a:off x="311700" y="1642075"/>
            <a:ext cx="43548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ru" sz="1700">
                <a:solidFill>
                  <a:schemeClr val="lt1"/>
                </a:solidFill>
              </a:rPr>
              <a:t>September 2013 - April 2014</a:t>
            </a:r>
            <a:endParaRPr sz="1700">
              <a:solidFill>
                <a:schemeClr val="lt1"/>
              </a:solidFill>
            </a:endParaRPr>
          </a:p>
          <a:p>
            <a:pPr indent="0" lvl="0" marL="0" rtl="0" algn="l">
              <a:spcBef>
                <a:spcPts val="0"/>
              </a:spcBef>
              <a:spcAft>
                <a:spcPts val="0"/>
              </a:spcAft>
              <a:buClr>
                <a:schemeClr val="dk1"/>
              </a:buClr>
              <a:buSzPts val="1100"/>
              <a:buFont typeface="Arial"/>
              <a:buNone/>
            </a:pPr>
            <a:r>
              <a:rPr lang="ru" sz="1700">
                <a:solidFill>
                  <a:schemeClr val="lt1"/>
                </a:solidFill>
              </a:rPr>
              <a:t>Senior Manager</a:t>
            </a:r>
            <a:endParaRPr sz="1700">
              <a:solidFill>
                <a:schemeClr val="lt1"/>
              </a:solidFill>
            </a:endParaRPr>
          </a:p>
          <a:p>
            <a:pPr indent="0" lvl="0" marL="0" rtl="0" algn="l">
              <a:spcBef>
                <a:spcPts val="0"/>
              </a:spcBef>
              <a:spcAft>
                <a:spcPts val="0"/>
              </a:spcAft>
              <a:buClr>
                <a:schemeClr val="dk1"/>
              </a:buClr>
              <a:buSzPts val="1100"/>
              <a:buFont typeface="Arial"/>
              <a:buNone/>
            </a:pPr>
            <a:r>
              <a:rPr lang="ru" sz="1700">
                <a:solidFill>
                  <a:schemeClr val="lt1"/>
                </a:solidFill>
              </a:rPr>
              <a:t>Participation in tenders, recruitment of English-speaking professionals, organizing transportation for 500 installation workers, contract preparation and signing, monitoring attendance and task completion. Ensuring the uninterrupted work of installers and participants of the opening and closing ceremonies of the Olympic and Paralympic Games in Sochi 2014.</a:t>
            </a:r>
            <a:endParaRPr sz="2400">
              <a:solidFill>
                <a:schemeClr val="lt1"/>
              </a:solidFill>
            </a:endParaRPr>
          </a:p>
        </p:txBody>
      </p:sp>
      <p:pic>
        <p:nvPicPr>
          <p:cNvPr id="112" name="Google Shape;112;p20"/>
          <p:cNvPicPr preferRelativeResize="0"/>
          <p:nvPr/>
        </p:nvPicPr>
        <p:blipFill>
          <a:blip r:embed="rId4">
            <a:alphaModFix/>
          </a:blip>
          <a:stretch>
            <a:fillRect/>
          </a:stretch>
        </p:blipFill>
        <p:spPr>
          <a:xfrm>
            <a:off x="6432675" y="3098350"/>
            <a:ext cx="2252875" cy="1612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1151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i="1" lang="ru" sz="2100">
                <a:solidFill>
                  <a:schemeClr val="lt1"/>
                </a:solidFill>
              </a:rPr>
              <a:t>Abd Entertainment</a:t>
            </a:r>
            <a:endParaRPr b="1" i="1" sz="2100">
              <a:solidFill>
                <a:schemeClr val="lt1"/>
              </a:solidFill>
            </a:endParaRPr>
          </a:p>
          <a:p>
            <a:pPr indent="0" lvl="0" marL="0" rtl="0" algn="l">
              <a:lnSpc>
                <a:spcPct val="115000"/>
              </a:lnSpc>
              <a:spcBef>
                <a:spcPts val="0"/>
              </a:spcBef>
              <a:spcAft>
                <a:spcPts val="0"/>
              </a:spcAft>
              <a:buNone/>
            </a:pPr>
            <a:r>
              <a:rPr b="1" i="1" lang="ru" sz="2100">
                <a:solidFill>
                  <a:schemeClr val="lt1"/>
                </a:solidFill>
              </a:rPr>
              <a:t>Cometa Production</a:t>
            </a:r>
            <a:endParaRPr b="1" i="1" sz="2100">
              <a:solidFill>
                <a:schemeClr val="lt1"/>
              </a:solidFill>
            </a:endParaRPr>
          </a:p>
          <a:p>
            <a:pPr indent="0" lvl="0" marL="0" rtl="0" algn="l">
              <a:lnSpc>
                <a:spcPct val="115000"/>
              </a:lnSpc>
              <a:spcBef>
                <a:spcPts val="0"/>
              </a:spcBef>
              <a:spcAft>
                <a:spcPts val="0"/>
              </a:spcAft>
              <a:buNone/>
            </a:pPr>
            <a:r>
              <a:rPr b="1" i="1" lang="ru" sz="2100">
                <a:solidFill>
                  <a:schemeClr val="lt1"/>
                </a:solidFill>
              </a:rPr>
              <a:t>Spin Music Service</a:t>
            </a:r>
            <a:endParaRPr b="1" i="1" sz="2100">
              <a:solidFill>
                <a:schemeClr val="lt1"/>
              </a:solidFill>
            </a:endParaRPr>
          </a:p>
        </p:txBody>
      </p:sp>
      <p:sp>
        <p:nvSpPr>
          <p:cNvPr id="118" name="Google Shape;118;p21"/>
          <p:cNvSpPr txBox="1"/>
          <p:nvPr>
            <p:ph idx="1" type="body"/>
          </p:nvPr>
        </p:nvSpPr>
        <p:spPr>
          <a:xfrm>
            <a:off x="311700" y="1667275"/>
            <a:ext cx="4326300" cy="290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chemeClr val="lt1"/>
                </a:solidFill>
              </a:rPr>
              <a:t>October 2007 - April 2013</a:t>
            </a:r>
            <a:endParaRPr sz="1500">
              <a:solidFill>
                <a:schemeClr val="lt1"/>
              </a:solidFill>
            </a:endParaRPr>
          </a:p>
          <a:p>
            <a:pPr indent="0" lvl="0" marL="0" rtl="0" algn="l">
              <a:spcBef>
                <a:spcPts val="0"/>
              </a:spcBef>
              <a:spcAft>
                <a:spcPts val="0"/>
              </a:spcAft>
              <a:buClr>
                <a:schemeClr val="dk1"/>
              </a:buClr>
              <a:buSzPts val="1100"/>
              <a:buFont typeface="Arial"/>
              <a:buNone/>
            </a:pPr>
            <a:r>
              <a:rPr lang="ru" sz="1500">
                <a:solidFill>
                  <a:schemeClr val="lt1"/>
                </a:solidFill>
              </a:rPr>
              <a:t>Monitoring the execution of all installation work and permits, staff selection for the 2009 Eurovision Song Contest, negotiating technical conditions with European contractors, monitoring the installation of events for companies such as "Cartier" and "Dior," working on set design and installation for TV shows and presidential inaugurations, organizing a team for technical work at Moscow's largest concert venue, the Olympic Stadium, for various artists.</a:t>
            </a:r>
            <a:endParaRPr sz="1500">
              <a:solidFill>
                <a:schemeClr val="lt1"/>
              </a:solidFill>
            </a:endParaRPr>
          </a:p>
          <a:p>
            <a:pPr indent="0" lvl="0" marL="0" rtl="0" algn="l">
              <a:spcBef>
                <a:spcPts val="0"/>
              </a:spcBef>
              <a:spcAft>
                <a:spcPts val="1200"/>
              </a:spcAft>
              <a:buNone/>
            </a:pPr>
            <a:r>
              <a:t/>
            </a:r>
            <a:endParaRPr sz="1500">
              <a:solidFill>
                <a:schemeClr val="lt1"/>
              </a:solidFill>
            </a:endParaRPr>
          </a:p>
        </p:txBody>
      </p:sp>
      <p:pic>
        <p:nvPicPr>
          <p:cNvPr id="119" name="Google Shape;119;p21"/>
          <p:cNvPicPr preferRelativeResize="0"/>
          <p:nvPr/>
        </p:nvPicPr>
        <p:blipFill>
          <a:blip r:embed="rId4">
            <a:alphaModFix/>
          </a:blip>
          <a:stretch>
            <a:fillRect/>
          </a:stretch>
        </p:blipFill>
        <p:spPr>
          <a:xfrm>
            <a:off x="6929372" y="413875"/>
            <a:ext cx="1775429" cy="1213676"/>
          </a:xfrm>
          <a:prstGeom prst="rect">
            <a:avLst/>
          </a:prstGeom>
          <a:noFill/>
          <a:ln>
            <a:noFill/>
          </a:ln>
        </p:spPr>
      </p:pic>
      <p:pic>
        <p:nvPicPr>
          <p:cNvPr id="120" name="Google Shape;120;p21"/>
          <p:cNvPicPr preferRelativeResize="0"/>
          <p:nvPr/>
        </p:nvPicPr>
        <p:blipFill>
          <a:blip r:embed="rId5">
            <a:alphaModFix/>
          </a:blip>
          <a:stretch>
            <a:fillRect/>
          </a:stretch>
        </p:blipFill>
        <p:spPr>
          <a:xfrm>
            <a:off x="4489600" y="413900"/>
            <a:ext cx="2146425" cy="1213674"/>
          </a:xfrm>
          <a:prstGeom prst="rect">
            <a:avLst/>
          </a:prstGeom>
          <a:noFill/>
          <a:ln>
            <a:noFill/>
          </a:ln>
        </p:spPr>
      </p:pic>
      <p:pic>
        <p:nvPicPr>
          <p:cNvPr id="121" name="Google Shape;121;p21"/>
          <p:cNvPicPr preferRelativeResize="0"/>
          <p:nvPr/>
        </p:nvPicPr>
        <p:blipFill>
          <a:blip r:embed="rId6">
            <a:alphaModFix/>
          </a:blip>
          <a:stretch>
            <a:fillRect/>
          </a:stretch>
        </p:blipFill>
        <p:spPr>
          <a:xfrm>
            <a:off x="6784425" y="2047675"/>
            <a:ext cx="1987126" cy="1048150"/>
          </a:xfrm>
          <a:prstGeom prst="rect">
            <a:avLst/>
          </a:prstGeom>
          <a:noFill/>
          <a:ln>
            <a:noFill/>
          </a:ln>
        </p:spPr>
      </p:pic>
      <p:pic>
        <p:nvPicPr>
          <p:cNvPr id="122" name="Google Shape;122;p21"/>
          <p:cNvPicPr preferRelativeResize="0"/>
          <p:nvPr/>
        </p:nvPicPr>
        <p:blipFill>
          <a:blip r:embed="rId7">
            <a:alphaModFix/>
          </a:blip>
          <a:stretch>
            <a:fillRect/>
          </a:stretch>
        </p:blipFill>
        <p:spPr>
          <a:xfrm>
            <a:off x="4638000" y="3656211"/>
            <a:ext cx="2146426" cy="1207364"/>
          </a:xfrm>
          <a:prstGeom prst="rect">
            <a:avLst/>
          </a:prstGeom>
          <a:noFill/>
          <a:ln>
            <a:noFill/>
          </a:ln>
        </p:spPr>
      </p:pic>
      <p:pic>
        <p:nvPicPr>
          <p:cNvPr id="123" name="Google Shape;123;p21"/>
          <p:cNvPicPr preferRelativeResize="0"/>
          <p:nvPr/>
        </p:nvPicPr>
        <p:blipFill>
          <a:blip r:embed="rId8">
            <a:alphaModFix/>
          </a:blip>
          <a:stretch>
            <a:fillRect/>
          </a:stretch>
        </p:blipFill>
        <p:spPr>
          <a:xfrm>
            <a:off x="7275184" y="3596075"/>
            <a:ext cx="1557115" cy="1207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2"/>
          <p:cNvSpPr txBox="1"/>
          <p:nvPr>
            <p:ph type="title"/>
          </p:nvPr>
        </p:nvSpPr>
        <p:spPr>
          <a:xfrm>
            <a:off x="396725" y="341075"/>
            <a:ext cx="4241400" cy="1505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i="1" lang="ru">
                <a:solidFill>
                  <a:schemeClr val="lt1"/>
                </a:solidFill>
              </a:rPr>
              <a:t>INTERPERSONAL </a:t>
            </a:r>
            <a:endParaRPr b="1" i="1">
              <a:solidFill>
                <a:schemeClr val="lt1"/>
              </a:solidFill>
            </a:endParaRPr>
          </a:p>
          <a:p>
            <a:pPr indent="0" lvl="0" marL="0" rtl="0" algn="l">
              <a:lnSpc>
                <a:spcPct val="115000"/>
              </a:lnSpc>
              <a:spcBef>
                <a:spcPts val="0"/>
              </a:spcBef>
              <a:spcAft>
                <a:spcPts val="0"/>
              </a:spcAft>
              <a:buSzPts val="990"/>
              <a:buNone/>
            </a:pPr>
            <a:r>
              <a:rPr b="1" i="1" lang="ru">
                <a:solidFill>
                  <a:schemeClr val="lt1"/>
                </a:solidFill>
              </a:rPr>
              <a:t>AND </a:t>
            </a:r>
            <a:endParaRPr b="1" i="1">
              <a:solidFill>
                <a:schemeClr val="lt1"/>
              </a:solidFill>
            </a:endParaRPr>
          </a:p>
          <a:p>
            <a:pPr indent="0" lvl="0" marL="0" rtl="0" algn="l">
              <a:lnSpc>
                <a:spcPct val="115000"/>
              </a:lnSpc>
              <a:spcBef>
                <a:spcPts val="0"/>
              </a:spcBef>
              <a:spcAft>
                <a:spcPts val="0"/>
              </a:spcAft>
              <a:buClr>
                <a:schemeClr val="dk1"/>
              </a:buClr>
              <a:buSzPts val="990"/>
              <a:buFont typeface="Arial"/>
              <a:buNone/>
            </a:pPr>
            <a:r>
              <a:rPr b="1" i="1" lang="ru">
                <a:solidFill>
                  <a:schemeClr val="lt1"/>
                </a:solidFill>
              </a:rPr>
              <a:t>TEAM SKILLS</a:t>
            </a:r>
            <a:endParaRPr b="1" i="1">
              <a:solidFill>
                <a:schemeClr val="lt1"/>
              </a:solidFill>
            </a:endParaRPr>
          </a:p>
          <a:p>
            <a:pPr indent="0" lvl="0" marL="0" rtl="0" algn="l">
              <a:spcBef>
                <a:spcPts val="0"/>
              </a:spcBef>
              <a:spcAft>
                <a:spcPts val="0"/>
              </a:spcAft>
              <a:buSzPts val="990"/>
              <a:buNone/>
            </a:pPr>
            <a:r>
              <a:t/>
            </a:r>
            <a:endParaRPr b="1" i="1" sz="1720">
              <a:solidFill>
                <a:schemeClr val="lt1"/>
              </a:solidFill>
            </a:endParaRPr>
          </a:p>
        </p:txBody>
      </p:sp>
      <p:sp>
        <p:nvSpPr>
          <p:cNvPr id="129" name="Google Shape;129;p22"/>
          <p:cNvSpPr txBox="1"/>
          <p:nvPr>
            <p:ph idx="1" type="body"/>
          </p:nvPr>
        </p:nvSpPr>
        <p:spPr>
          <a:xfrm>
            <a:off x="396725" y="2138025"/>
            <a:ext cx="5785800" cy="34164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Easily unite people from different countries </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Honest, friendly, excellent communication skills</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Project management experience, including planning and preparation of supporting documentation</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 Experience operating loading equipment, extensive experience as a high-altitude installer.</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 Completed courses in fire safety, labor protection, and first aid.</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Regularly use Microsoft Office, Outlook, Adobe, MacOs Keynote. </a:t>
            </a:r>
            <a:endParaRPr sz="1500">
              <a:solidFill>
                <a:schemeClr val="lt1"/>
              </a:solidFill>
              <a:latin typeface="Roboto"/>
              <a:ea typeface="Roboto"/>
              <a:cs typeface="Roboto"/>
              <a:sym typeface="Roboto"/>
            </a:endParaRPr>
          </a:p>
          <a:p>
            <a:pPr indent="-323850" lvl="0" marL="457200" rtl="0" algn="l">
              <a:lnSpc>
                <a:spcPct val="95000"/>
              </a:lnSpc>
              <a:spcBef>
                <a:spcPts val="0"/>
              </a:spcBef>
              <a:spcAft>
                <a:spcPts val="0"/>
              </a:spcAft>
              <a:buClr>
                <a:schemeClr val="lt1"/>
              </a:buClr>
              <a:buSzPts val="1500"/>
              <a:buFont typeface="Roboto"/>
              <a:buChar char="●"/>
            </a:pPr>
            <a:r>
              <a:rPr lang="ru" sz="1500">
                <a:solidFill>
                  <a:schemeClr val="lt1"/>
                </a:solidFill>
                <a:latin typeface="Roboto"/>
                <a:ea typeface="Roboto"/>
                <a:cs typeface="Roboto"/>
                <a:sym typeface="Roboto"/>
              </a:rPr>
              <a:t>Business correspondence, letter and note writing, content editing. </a:t>
            </a:r>
            <a:endParaRPr sz="1500">
              <a:solidFill>
                <a:schemeClr val="lt1"/>
              </a:solidFill>
              <a:latin typeface="Roboto"/>
              <a:ea typeface="Roboto"/>
              <a:cs typeface="Roboto"/>
              <a:sym typeface="Roboto"/>
            </a:endParaRPr>
          </a:p>
        </p:txBody>
      </p:sp>
      <p:pic>
        <p:nvPicPr>
          <p:cNvPr id="130" name="Google Shape;130;p22"/>
          <p:cNvPicPr preferRelativeResize="0"/>
          <p:nvPr/>
        </p:nvPicPr>
        <p:blipFill>
          <a:blip r:embed="rId4">
            <a:alphaModFix/>
          </a:blip>
          <a:stretch>
            <a:fillRect/>
          </a:stretch>
        </p:blipFill>
        <p:spPr>
          <a:xfrm>
            <a:off x="6476700" y="341075"/>
            <a:ext cx="1770925" cy="458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6" name="Google Shape;13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7" name="Google Shape;137;p23"/>
          <p:cNvPicPr preferRelativeResize="0"/>
          <p:nvPr/>
        </p:nvPicPr>
        <p:blipFill>
          <a:blip r:embed="rId3">
            <a:alphaModFix/>
          </a:blip>
          <a:stretch>
            <a:fillRect/>
          </a:stretch>
        </p:blipFill>
        <p:spPr>
          <a:xfrm>
            <a:off x="0" y="1255"/>
            <a:ext cx="9144001" cy="5140990"/>
          </a:xfrm>
          <a:prstGeom prst="rect">
            <a:avLst/>
          </a:prstGeom>
          <a:noFill/>
          <a:ln>
            <a:noFill/>
          </a:ln>
        </p:spPr>
      </p:pic>
      <p:sp>
        <p:nvSpPr>
          <p:cNvPr id="138" name="Google Shape;138;p23"/>
          <p:cNvSpPr txBox="1"/>
          <p:nvPr/>
        </p:nvSpPr>
        <p:spPr>
          <a:xfrm>
            <a:off x="1435825" y="188875"/>
            <a:ext cx="6588900" cy="9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ru" sz="4000">
                <a:solidFill>
                  <a:schemeClr val="lt1"/>
                </a:solidFill>
              </a:rPr>
              <a:t>Thanks </a:t>
            </a:r>
            <a:r>
              <a:rPr b="1" i="1" lang="ru" sz="4000">
                <a:solidFill>
                  <a:schemeClr val="lt1"/>
                </a:solidFill>
              </a:rPr>
              <a:t>for</a:t>
            </a:r>
            <a:r>
              <a:rPr b="1" i="1" lang="ru" sz="4000">
                <a:solidFill>
                  <a:schemeClr val="lt1"/>
                </a:solidFill>
              </a:rPr>
              <a:t> your attention</a:t>
            </a:r>
            <a:endParaRPr b="1" i="1" sz="4000">
              <a:solidFill>
                <a:schemeClr val="lt1"/>
              </a:solidFill>
            </a:endParaRPr>
          </a:p>
        </p:txBody>
      </p:sp>
      <p:sp>
        <p:nvSpPr>
          <p:cNvPr id="139" name="Google Shape;139;p23"/>
          <p:cNvSpPr txBox="1"/>
          <p:nvPr/>
        </p:nvSpPr>
        <p:spPr>
          <a:xfrm>
            <a:off x="911575" y="3920200"/>
            <a:ext cx="7637400" cy="96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i="1" lang="ru" sz="1500">
                <a:solidFill>
                  <a:schemeClr val="lt1"/>
                </a:solidFill>
              </a:rPr>
              <a:t>Email: </a:t>
            </a:r>
            <a:r>
              <a:rPr b="1" i="1" lang="ru" sz="1500" u="sng">
                <a:solidFill>
                  <a:schemeClr val="lt1"/>
                </a:solidFill>
                <a:hlinkClick r:id="rId4">
                  <a:extLst>
                    <a:ext uri="{A12FA001-AC4F-418D-AE19-62706E023703}">
                      <ahyp:hlinkClr val="tx"/>
                    </a:ext>
                  </a:extLst>
                </a:hlinkClick>
              </a:rPr>
              <a:t>Alexlaza1@gmail.com</a:t>
            </a:r>
            <a:endParaRPr b="1" i="1" sz="1500">
              <a:solidFill>
                <a:schemeClr val="lt1"/>
              </a:solidFill>
            </a:endParaRPr>
          </a:p>
          <a:p>
            <a:pPr indent="0" lvl="0" marL="0" rtl="0" algn="ctr">
              <a:lnSpc>
                <a:spcPct val="115000"/>
              </a:lnSpc>
              <a:spcBef>
                <a:spcPts val="0"/>
              </a:spcBef>
              <a:spcAft>
                <a:spcPts val="0"/>
              </a:spcAft>
              <a:buClr>
                <a:schemeClr val="dk1"/>
              </a:buClr>
              <a:buSzPts val="1100"/>
              <a:buFont typeface="Arial"/>
              <a:buNone/>
            </a:pPr>
            <a:r>
              <a:rPr b="1" i="1" lang="ru" sz="1500">
                <a:solidFill>
                  <a:schemeClr val="lt1"/>
                </a:solidFill>
              </a:rPr>
              <a:t>Facebook: </a:t>
            </a:r>
            <a:r>
              <a:rPr b="1" i="1" lang="ru" sz="1500" u="sng">
                <a:solidFill>
                  <a:schemeClr val="lt1"/>
                </a:solidFill>
                <a:hlinkClick r:id="rId5">
                  <a:extLst>
                    <a:ext uri="{A12FA001-AC4F-418D-AE19-62706E023703}">
                      <ahyp:hlinkClr val="tx"/>
                    </a:ext>
                  </a:extLst>
                </a:hlinkClick>
              </a:rPr>
              <a:t>https://clck.ru/34pxFT</a:t>
            </a:r>
            <a:r>
              <a:rPr b="1" i="1" lang="ru" sz="1500">
                <a:solidFill>
                  <a:schemeClr val="lt1"/>
                </a:solidFill>
              </a:rPr>
              <a:t> LinkedIn: </a:t>
            </a:r>
            <a:r>
              <a:rPr b="1" i="1" lang="ru" sz="1500" u="sng">
                <a:solidFill>
                  <a:schemeClr val="lt1"/>
                </a:solidFill>
                <a:hlinkClick r:id="rId6">
                  <a:extLst>
                    <a:ext uri="{A12FA001-AC4F-418D-AE19-62706E023703}">
                      <ahyp:hlinkClr val="tx"/>
                    </a:ext>
                  </a:extLst>
                </a:hlinkClick>
              </a:rPr>
              <a:t>https://clck.ru/34pxH2</a:t>
            </a:r>
            <a:endParaRPr b="1" i="1" sz="1500">
              <a:solidFill>
                <a:schemeClr val="lt1"/>
              </a:solidFill>
            </a:endParaRPr>
          </a:p>
          <a:p>
            <a:pPr indent="0" lvl="0" marL="0" rtl="0" algn="ctr">
              <a:spcBef>
                <a:spcPts val="0"/>
              </a:spcBef>
              <a:spcAft>
                <a:spcPts val="0"/>
              </a:spcAft>
              <a:buNone/>
            </a:pPr>
            <a:r>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